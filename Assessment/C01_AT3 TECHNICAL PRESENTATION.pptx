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3ABF-1DA9-6392-17A4-2C3B047E4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5955" y="2336801"/>
            <a:ext cx="8825658" cy="1278466"/>
          </a:xfrm>
        </p:spPr>
        <p:txBody>
          <a:bodyPr/>
          <a:lstStyle/>
          <a:p>
            <a:pPr algn="ctr"/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45284-9433-1CBA-ECE3-7EDF1D62F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M. Nivedha(192471040)</a:t>
            </a:r>
          </a:p>
          <a:p>
            <a:r>
              <a:rPr lang="en-IN" dirty="0"/>
              <a:t>ITA0611-Machine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5035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86CE-E6C0-FED7-C9D0-32C6BB51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04A01-1274-131E-38D1-F28543D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7658846" cy="3416300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IN" dirty="0"/>
              <a:t>Heart disease is a major health problem worldwide.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Early identification of heart disease can help in timely treatment.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Machine Learning can </a:t>
            </a:r>
            <a:r>
              <a:rPr lang="en-IN" dirty="0" err="1"/>
              <a:t>analyze</a:t>
            </a:r>
            <a:r>
              <a:rPr lang="en-IN" dirty="0"/>
              <a:t> patient health data and find useful patterns.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The system uses medical features to predict the risk of heart disease.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It can support doctors in making faster and data-based decisions.</a:t>
            </a:r>
          </a:p>
          <a:p>
            <a:endParaRPr lang="en-IN" dirty="0"/>
          </a:p>
        </p:txBody>
      </p:sp>
      <p:pic>
        <p:nvPicPr>
          <p:cNvPr id="4" name="Picture 3" descr="front page.pptx heart disease prediction machine learning | PPTX">
            <a:extLst>
              <a:ext uri="{FF2B5EF4-FFF2-40B4-BE49-F238E27FC236}">
                <a16:creationId xmlns:a16="http://schemas.microsoft.com/office/drawing/2014/main" id="{64B980FC-0925-3BC6-6C3D-29A520E1A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867" y="2760134"/>
            <a:ext cx="2768601" cy="239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8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FA58-F9A0-17A3-6FEA-24C7812D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D2D5-58CA-F872-375B-685FCEA23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394513" cy="3416300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dirty="0"/>
              <a:t>Heart disease may not always show clear symptoms in the early stage.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Diagnosis requires analysis of several health-related factors.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Manually </a:t>
            </a:r>
            <a:r>
              <a:rPr lang="en-IN" dirty="0" err="1"/>
              <a:t>analyzing</a:t>
            </a:r>
            <a:r>
              <a:rPr lang="en-IN" dirty="0"/>
              <a:t> large patient datasets can be time-consuming.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Machine Learning can learn patterns from previous patient records.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The proposed system aims to provide an accurate </a:t>
            </a:r>
            <a:r>
              <a:rPr lang="en-IN" b="1" dirty="0"/>
              <a:t>heart disease risk prediction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275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0425-1EB4-FEC8-A94B-BB59F070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0EC1F-36C8-1758-EA32-9B1A3BDA7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3" y="2603500"/>
            <a:ext cx="5796179" cy="341630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features:</a:t>
            </a:r>
          </a:p>
          <a:p>
            <a:pPr lvl="0"/>
            <a:r>
              <a:rPr lang="en-IN" sz="2100" dirty="0"/>
              <a:t>Age</a:t>
            </a:r>
          </a:p>
          <a:p>
            <a:pPr lvl="0"/>
            <a:r>
              <a:rPr lang="en-IN" sz="2100" dirty="0"/>
              <a:t>Sex</a:t>
            </a:r>
          </a:p>
          <a:p>
            <a:pPr lvl="0"/>
            <a:r>
              <a:rPr lang="en-IN" sz="2100" dirty="0"/>
              <a:t>Chest pain type</a:t>
            </a:r>
          </a:p>
          <a:p>
            <a:pPr lvl="0"/>
            <a:r>
              <a:rPr lang="en-IN" sz="2100" dirty="0"/>
              <a:t>Blood pressure</a:t>
            </a:r>
          </a:p>
          <a:p>
            <a:pPr lvl="0"/>
            <a:r>
              <a:rPr lang="en-IN" sz="2100" dirty="0"/>
              <a:t>Cholesterol</a:t>
            </a:r>
          </a:p>
          <a:p>
            <a:pPr lvl="0"/>
            <a:r>
              <a:rPr lang="en-IN" sz="2100" dirty="0"/>
              <a:t>Blood sugar</a:t>
            </a:r>
          </a:p>
          <a:p>
            <a:pPr lvl="0"/>
            <a:r>
              <a:rPr lang="en-IN" sz="2100" dirty="0"/>
              <a:t>Maximum heart rate</a:t>
            </a:r>
          </a:p>
          <a:p>
            <a:pPr lvl="0"/>
            <a:r>
              <a:rPr lang="en-IN" sz="2100" dirty="0"/>
              <a:t>Exercise-induced angina</a:t>
            </a:r>
          </a:p>
          <a:p>
            <a:r>
              <a:rPr lang="en-IN" sz="2100" b="1" dirty="0"/>
              <a:t>Target:</a:t>
            </a:r>
            <a:br>
              <a:rPr lang="en-IN" sz="2100" dirty="0"/>
            </a:br>
            <a:r>
              <a:rPr lang="en-IN" sz="2100" dirty="0"/>
              <a:t>0 – No Heart Disease | 1 – Heart Disease</a:t>
            </a:r>
          </a:p>
          <a:p>
            <a:pPr lvl="0"/>
            <a:endParaRPr lang="en-IN" sz="21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AA9BE-EC89-A575-7E00-CB6C7CD10F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5" name="Picture 4" descr="A Guide to Random Forest in Machine Learning | EJable">
            <a:extLst>
              <a:ext uri="{FF2B5EF4-FFF2-40B4-BE49-F238E27FC236}">
                <a16:creationId xmlns:a16="http://schemas.microsoft.com/office/drawing/2014/main" id="{85AD7F31-64EA-8C88-78CE-14E0FAE6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533" y="2603500"/>
            <a:ext cx="5486400" cy="36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0E4B-FB8A-562B-5F2C-3E628609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1A23B-E93A-D58B-8746-4D0E5987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817846" cy="3416300"/>
          </a:xfrm>
        </p:spPr>
        <p:txBody>
          <a:bodyPr/>
          <a:lstStyle/>
          <a:p>
            <a:pPr lvl="0"/>
            <a:r>
              <a:rPr lang="en-IN" dirty="0"/>
              <a:t>Remove duplicate and incorrect records.</a:t>
            </a:r>
          </a:p>
          <a:p>
            <a:pPr lvl="0"/>
            <a:r>
              <a:rPr lang="en-IN" dirty="0"/>
              <a:t>Handle missing values in the dataset.</a:t>
            </a:r>
          </a:p>
          <a:p>
            <a:pPr lvl="0"/>
            <a:r>
              <a:rPr lang="en-IN" dirty="0"/>
              <a:t>Convert categorical values into numerical values.</a:t>
            </a:r>
          </a:p>
          <a:p>
            <a:pPr lvl="0"/>
            <a:r>
              <a:rPr lang="en-IN" dirty="0"/>
              <a:t>Scale numerical features when required.</a:t>
            </a:r>
          </a:p>
          <a:p>
            <a:pPr lvl="0"/>
            <a:r>
              <a:rPr lang="en-IN" dirty="0"/>
              <a:t>Split the dataset into </a:t>
            </a:r>
            <a:r>
              <a:rPr lang="en-IN" b="1" dirty="0"/>
              <a:t>training and testing data</a:t>
            </a:r>
            <a:r>
              <a:rPr lang="en-IN" dirty="0"/>
              <a:t>.</a:t>
            </a:r>
          </a:p>
          <a:p>
            <a:r>
              <a:rPr lang="en-IN" b="1" dirty="0"/>
              <a:t>Flow: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Raw Data → Cleaning → Transformation → Scaling → Train/Test Data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 descr="Machine Learning Development Life Cycle: The 9 Stages from Idea to Optimization | by Prathamharer | Medium">
            <a:extLst>
              <a:ext uri="{FF2B5EF4-FFF2-40B4-BE49-F238E27FC236}">
                <a16:creationId xmlns:a16="http://schemas.microsoft.com/office/drawing/2014/main" id="{F61FBF3C-3446-A93A-3CC2-BB422B9A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3" y="2692400"/>
            <a:ext cx="4337051" cy="26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2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A566-106D-AFB7-29FD-2FB4BEE65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5DC10-3AA7-7716-3389-7519DB070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7608046" cy="3416300"/>
          </a:xfrm>
        </p:spPr>
        <p:txBody>
          <a:bodyPr/>
          <a:lstStyle/>
          <a:p>
            <a:r>
              <a:rPr lang="en-IN" b="1" dirty="0"/>
              <a:t>Random Forest Classifier</a:t>
            </a:r>
          </a:p>
          <a:p>
            <a:pPr lvl="0"/>
            <a:r>
              <a:rPr lang="en-IN" dirty="0"/>
              <a:t>Random Forest uses multiple decision trees.</a:t>
            </a:r>
          </a:p>
          <a:p>
            <a:pPr lvl="0"/>
            <a:r>
              <a:rPr lang="en-IN" dirty="0"/>
              <a:t>Each tree </a:t>
            </a:r>
            <a:r>
              <a:rPr lang="en-IN" dirty="0" err="1"/>
              <a:t>analyzes</a:t>
            </a:r>
            <a:r>
              <a:rPr lang="en-IN" dirty="0"/>
              <a:t> the patient data independently.</a:t>
            </a:r>
          </a:p>
          <a:p>
            <a:pPr lvl="0"/>
            <a:r>
              <a:rPr lang="en-IN" dirty="0"/>
              <a:t>Every tree produces a prediction.</a:t>
            </a:r>
          </a:p>
          <a:p>
            <a:pPr lvl="0"/>
            <a:r>
              <a:rPr lang="en-IN" dirty="0"/>
              <a:t>The final result is selected using majority voting.</a:t>
            </a:r>
          </a:p>
          <a:p>
            <a:pPr lvl="0"/>
            <a:r>
              <a:rPr lang="en-IN" dirty="0"/>
              <a:t>It provides reliable classification and helps reduce overfitting.</a:t>
            </a:r>
          </a:p>
          <a:p>
            <a:r>
              <a:rPr lang="en-IN" b="1" dirty="0"/>
              <a:t>Flow:</a:t>
            </a:r>
            <a:br>
              <a:rPr lang="en-IN" dirty="0"/>
            </a:br>
            <a:r>
              <a:rPr lang="en-IN" b="1" dirty="0"/>
              <a:t>Patient Data → Multiple Decision Trees → Voting → Final Prediction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 descr="Empowering Healthcare Through Machine Learning: A Predictive Model for Heart Disease Detection - Kumaraguru College of Liberal Arts &amp; Science (KCLAS)">
            <a:extLst>
              <a:ext uri="{FF2B5EF4-FFF2-40B4-BE49-F238E27FC236}">
                <a16:creationId xmlns:a16="http://schemas.microsoft.com/office/drawing/2014/main" id="{174C7C2E-0C20-6FA0-B267-7C9621078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028" y="2980267"/>
            <a:ext cx="2939306" cy="251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1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190C-28FF-C7D9-9CC7-F3357D31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33756-3DCA-B0BE-1CE6-9C2C29288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885579" cy="38227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dirty="0"/>
              <a:t>Collect the heart disease dataset</a:t>
            </a:r>
            <a:br>
              <a:rPr lang="en-IN" sz="2000" dirty="0"/>
            </a:br>
            <a:r>
              <a:rPr lang="en-IN" sz="2000" dirty="0"/>
              <a:t>↓</a:t>
            </a:r>
          </a:p>
          <a:p>
            <a:pPr marL="0" indent="0" algn="ctr">
              <a:buNone/>
            </a:pPr>
            <a:r>
              <a:rPr lang="en-IN" sz="2000" dirty="0"/>
              <a:t>Preprocess the data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Select important features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 Train the Random Forest model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 Test the model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Predict heart disease risk</a:t>
            </a:r>
          </a:p>
        </p:txBody>
      </p:sp>
    </p:spTree>
    <p:extLst>
      <p:ext uri="{BB962C8B-B14F-4D97-AF65-F5344CB8AC3E}">
        <p14:creationId xmlns:p14="http://schemas.microsoft.com/office/powerpoint/2010/main" val="177193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FD1D-04E3-1289-015C-E33501FA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58C9-EB50-5D7A-A7E2-5BA69B111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7845113" cy="34163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model is evaluated using:</a:t>
            </a:r>
          </a:p>
          <a:p>
            <a:pPr lvl="0" algn="just">
              <a:lnSpc>
                <a:spcPct val="150000"/>
              </a:lnSpc>
            </a:pPr>
            <a:r>
              <a:rPr lang="en-IN" b="1" dirty="0"/>
              <a:t>Accuracy:</a:t>
            </a:r>
            <a:r>
              <a:rPr lang="en-IN" dirty="0"/>
              <a:t> Measures overall correct predictions.</a:t>
            </a:r>
          </a:p>
          <a:p>
            <a:pPr lvl="0" algn="just">
              <a:lnSpc>
                <a:spcPct val="150000"/>
              </a:lnSpc>
            </a:pPr>
            <a:r>
              <a:rPr lang="en-IN" b="1" dirty="0"/>
              <a:t>Precision:</a:t>
            </a:r>
            <a:r>
              <a:rPr lang="en-IN" dirty="0"/>
              <a:t> Measures how many predicted positive cases are correct.</a:t>
            </a:r>
          </a:p>
          <a:p>
            <a:pPr lvl="0" algn="just">
              <a:lnSpc>
                <a:spcPct val="150000"/>
              </a:lnSpc>
            </a:pPr>
            <a:r>
              <a:rPr lang="en-IN" b="1" dirty="0"/>
              <a:t>Recall:</a:t>
            </a:r>
            <a:r>
              <a:rPr lang="en-IN" dirty="0"/>
              <a:t> Measures how many actual positive cases are detected.</a:t>
            </a:r>
          </a:p>
          <a:p>
            <a:pPr lvl="0" algn="just">
              <a:lnSpc>
                <a:spcPct val="150000"/>
              </a:lnSpc>
            </a:pPr>
            <a:r>
              <a:rPr lang="en-IN" b="1" dirty="0"/>
              <a:t>F1-Score:</a:t>
            </a:r>
            <a:r>
              <a:rPr lang="en-IN" dirty="0"/>
              <a:t> Balances precision and recall.</a:t>
            </a:r>
          </a:p>
          <a:p>
            <a:pPr lvl="0" algn="just">
              <a:lnSpc>
                <a:spcPct val="150000"/>
              </a:lnSpc>
            </a:pPr>
            <a:r>
              <a:rPr lang="en-IN" b="1" dirty="0"/>
              <a:t>Confusion Matrix:</a:t>
            </a:r>
            <a:r>
              <a:rPr lang="en-IN" dirty="0"/>
              <a:t> Shows correct and incorrect predictions.</a:t>
            </a:r>
          </a:p>
          <a:p>
            <a:endParaRPr lang="en-IN" dirty="0"/>
          </a:p>
        </p:txBody>
      </p:sp>
      <p:pic>
        <p:nvPicPr>
          <p:cNvPr id="4" name="Picture 3" descr="A Secure Remote Health Monitoring for Heart Disease Prediction Using Machine Learning and Deep Learning Techniques in Explainable Artificial Intelligence Framework | MDPI">
            <a:extLst>
              <a:ext uri="{FF2B5EF4-FFF2-40B4-BE49-F238E27FC236}">
                <a16:creationId xmlns:a16="http://schemas.microsoft.com/office/drawing/2014/main" id="{B015AA4D-FD9E-110D-BD56-03A59621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00" y="2846916"/>
            <a:ext cx="2734733" cy="29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9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F854-9C47-64A3-3D0F-60D29E67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EDFC6-8772-3F59-FBB9-14CA09631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78713" cy="341630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Expected Results:</a:t>
            </a:r>
            <a:endParaRPr lang="en-IN" dirty="0"/>
          </a:p>
          <a:p>
            <a:pPr lvl="0"/>
            <a:r>
              <a:rPr lang="en-IN" dirty="0"/>
              <a:t>The model can classify patients into disease and non-disease groups.</a:t>
            </a:r>
          </a:p>
          <a:p>
            <a:pPr lvl="0"/>
            <a:r>
              <a:rPr lang="en-IN" dirty="0"/>
              <a:t>Performance is measured using standard evaluation metrics.</a:t>
            </a:r>
          </a:p>
          <a:p>
            <a:pPr lvl="0"/>
            <a:r>
              <a:rPr lang="en-IN" dirty="0"/>
              <a:t>Confusion matrix helps understand prediction errors.</a:t>
            </a:r>
          </a:p>
          <a:p>
            <a:r>
              <a:rPr lang="en-IN" b="1" dirty="0"/>
              <a:t>Advantages:</a:t>
            </a:r>
            <a:endParaRPr lang="en-IN" dirty="0"/>
          </a:p>
          <a:p>
            <a:pPr lvl="0"/>
            <a:r>
              <a:rPr lang="en-IN" dirty="0"/>
              <a:t>Fast analysis of patient data.</a:t>
            </a:r>
          </a:p>
          <a:p>
            <a:pPr lvl="0"/>
            <a:r>
              <a:rPr lang="en-IN" dirty="0"/>
              <a:t>Helps identify high-risk cases.</a:t>
            </a:r>
          </a:p>
          <a:p>
            <a:pPr lvl="0"/>
            <a:r>
              <a:rPr lang="en-IN" dirty="0"/>
              <a:t>Handles multiple health-related features.</a:t>
            </a:r>
          </a:p>
          <a:p>
            <a:pPr lvl="0"/>
            <a:r>
              <a:rPr lang="en-IN" dirty="0"/>
              <a:t>Can be improved using larger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51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3F77-C19E-62D9-6063-3C1482C7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D26E-C673-BBBA-2EAE-568F987AA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885579" cy="3416300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dirty="0"/>
              <a:t>Use </a:t>
            </a:r>
            <a:r>
              <a:rPr lang="en-IN" b="1" dirty="0"/>
              <a:t>larger and more diverse datasets</a:t>
            </a:r>
            <a:r>
              <a:rPr lang="en-IN" dirty="0"/>
              <a:t> to improve prediction accuracy.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Integrate </a:t>
            </a:r>
            <a:r>
              <a:rPr lang="en-IN" b="1" dirty="0"/>
              <a:t>real-time patient health data</a:t>
            </a:r>
            <a:r>
              <a:rPr lang="en-IN" dirty="0"/>
              <a:t> for continuous monitoring.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Apply </a:t>
            </a:r>
            <a:r>
              <a:rPr lang="en-IN" b="1" dirty="0"/>
              <a:t>Deep Learning and advanced ML algorithms</a:t>
            </a:r>
            <a:r>
              <a:rPr lang="en-IN" dirty="0"/>
              <a:t> for better performance.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Develop a </a:t>
            </a:r>
            <a:r>
              <a:rPr lang="en-IN" b="1" dirty="0"/>
              <a:t>web or mobile application</a:t>
            </a:r>
            <a:r>
              <a:rPr lang="en-IN" dirty="0"/>
              <a:t> for easy access and prediction.</a:t>
            </a:r>
          </a:p>
          <a:p>
            <a:pPr lvl="0" algn="just">
              <a:lnSpc>
                <a:spcPct val="150000"/>
              </a:lnSpc>
            </a:pPr>
            <a:r>
              <a:rPr lang="en-IN" dirty="0"/>
              <a:t>Improve </a:t>
            </a:r>
            <a:r>
              <a:rPr lang="en-IN" b="1" dirty="0"/>
              <a:t>model explainability</a:t>
            </a:r>
            <a:r>
              <a:rPr lang="en-IN" dirty="0"/>
              <a:t> so doctors can better understand the prediction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41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16F7-2C12-AAE6-04A6-D46F13A2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F643D-159B-BED6-8B35-749952D8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284446" cy="3416300"/>
          </a:xfrm>
        </p:spPr>
        <p:txBody>
          <a:bodyPr/>
          <a:lstStyle/>
          <a:p>
            <a:pPr lvl="0"/>
            <a:r>
              <a:rPr lang="en-IN" dirty="0"/>
              <a:t>Machine Learning can effectively </a:t>
            </a:r>
            <a:r>
              <a:rPr lang="en-IN" dirty="0" err="1"/>
              <a:t>analyze</a:t>
            </a:r>
            <a:r>
              <a:rPr lang="en-IN" dirty="0"/>
              <a:t> patient health data for heart disease prediction.</a:t>
            </a:r>
          </a:p>
          <a:p>
            <a:pPr lvl="0"/>
            <a:r>
              <a:rPr lang="en-IN" dirty="0"/>
              <a:t>Important medical features help the model identify disease-related patterns.</a:t>
            </a:r>
          </a:p>
          <a:p>
            <a:pPr lvl="0"/>
            <a:r>
              <a:rPr lang="en-IN" dirty="0"/>
              <a:t>The Random Forest algorithm provides reliable classification results.</a:t>
            </a:r>
          </a:p>
          <a:p>
            <a:pPr lvl="0"/>
            <a:r>
              <a:rPr lang="en-IN" dirty="0"/>
              <a:t>Evaluation metrics help measure the accuracy and performance of the system.</a:t>
            </a:r>
          </a:p>
          <a:p>
            <a:pPr lvl="0"/>
            <a:r>
              <a:rPr lang="en-IN" dirty="0"/>
              <a:t>The proposed system can support </a:t>
            </a:r>
            <a:r>
              <a:rPr lang="en-IN" b="1" dirty="0"/>
              <a:t>early risk identification and better healthcare decision-making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009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6EDB1-B639-365F-7CFE-D451EE94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683000"/>
            <a:ext cx="10071846" cy="2336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9095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{62D7CFD5-59C8-4977-AF97-0E697B2A672A}TF229edf6a-8a49-49ee-a0a6-5037052947485fb3ca0c-bc27bf41d645</Template>
  <TotalTime>27</TotalTime>
  <Words>548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Ion Boardroom</vt:lpstr>
      <vt:lpstr>    Technical Presentation   Heart Disease Prediction Using Machine Learning</vt:lpstr>
      <vt:lpstr>Introduction</vt:lpstr>
      <vt:lpstr>Problem Statement</vt:lpstr>
      <vt:lpstr>Dataset and Features</vt:lpstr>
      <vt:lpstr>Data Preprocessing</vt:lpstr>
      <vt:lpstr>Machine Learning Model</vt:lpstr>
      <vt:lpstr>System Methodology</vt:lpstr>
      <vt:lpstr>Performance Evaluation</vt:lpstr>
      <vt:lpstr>Results and Advantages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Nivedha Muthukumar</dc:creator>
  <cp:lastModifiedBy>Nivedha Muthukumar</cp:lastModifiedBy>
  <cp:revision>1</cp:revision>
  <dcterms:created xsi:type="dcterms:W3CDTF">2026-10-08T09:44:36Z</dcterms:created>
  <dcterms:modified xsi:type="dcterms:W3CDTF">2026-10-08T10:12:10Z</dcterms:modified>
</cp:coreProperties>
</file>